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a179ac59-10b5-f2df-b7dd-5f73772c75e8}">
          <p14:sldIdLst>
            <p14:sldId id="256"/>
          </p14:sldIdLst>
        </p14:section>
        <p14:section name="Introducción" id="{255c4d4e-882d-a713-ed14-1db81c77d7d5}">
          <p14:sldIdLst>
            <p14:sldId id="257"/>
            <p14:sldId id="258"/>
            <p14:sldId id="259"/>
          </p14:sldIdLst>
        </p14:section>
        <p14:section name="Datos" id="{780469e7-77ce-21b6-00f1-39d89d726b14}">
          <p14:sldIdLst>
            <p14:sldId id="260"/>
            <p14:sldId id="261"/>
          </p14:sldIdLst>
        </p14:section>
        <p14:section name="Metodología" id="{1d7dc643-8792-1e75-c1d3-cb68330a611c}">
          <p14:sldIdLst>
            <p14:sldId id="262"/>
            <p14:sldId id="263"/>
          </p14:sldIdLst>
        </p14:section>
        <p14:section name="Resultados" id="{6d107013-1a61-3950-3548-6d5a7b1ed5f1}">
          <p14:sldIdLst>
            <p14:sldId id="264"/>
            <p14:sldId id="265"/>
            <p14:sldId id="266"/>
            <p14:sldId id="267"/>
          </p14:sldIdLst>
        </p14:section>
        <p14:section name="Aplicación" id="{0276db2b-fdf4-fcfb-3c77-6b598fe5a5b2}">
          <p14:sldIdLst>
            <p14:sldId id="268"/>
            <p14:sldId id="269"/>
          </p14:sldIdLst>
        </p14:section>
        <p14:section name="Cierre" id="{67a990e5-eefd-eb88-a88e-41123c91def2}">
          <p14:sldIdLst>
            <p14:sldId id="270"/>
          </p14:sldIdLst>
        </p14:section>
        <p14:section name="Referencias" id="{72002af5-36a5-95f5-1fbf-a2dd5fbfe050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355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3557"/>
                </a:solidFill>
                <a:latin typeface="+mn-lt"/>
              </a:rPr>
              <a:t>Log loss en prueba (menor es mejor)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 loss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CD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A4C9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Línea base</c:v>
                  </c:pt>
                  <c:pt idx="1">
                    <c:v>LogReg estructural</c:v>
                  </c:pt>
                  <c:pt idx="2">
                    <c:v>HistGB sin ajustar</c:v>
                  </c:pt>
                  <c:pt idx="3">
                    <c:v>HistGB ajustado</c:v>
                  </c:pt>
                  <c:pt idx="4">
                    <c:v>LogReg TF-IDF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1.0972</c:v>
                </c:pt>
                <c:pt idx="1">
                  <c:v>1.0654</c:v>
                </c:pt>
                <c:pt idx="2">
                  <c:v>1.047</c:v>
                </c:pt>
                <c:pt idx="3">
                  <c:v>1.046</c:v>
                </c:pt>
                <c:pt idx="4">
                  <c:v>1.0414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1"/>
          <c:min val="1"/>
        </c:scaling>
        <c:delete val="0"/>
        <c:axPos val="b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355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3557"/>
                </a:solidFill>
                <a:latin typeface="+mn-lt"/>
              </a:rPr>
              <a:t>Exactitud y F1 macro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Exactitud</c:v>
                </c:pt>
              </c:strCache>
            </c:strRef>
          </c:tx>
          <c:spPr>
            <a:solidFill>
              <a:srgbClr val="1D355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LogReg estructural</c:v>
                  </c:pt>
                  <c:pt idx="1">
                    <c:v>HistGB ajustado</c:v>
                  </c:pt>
                  <c:pt idx="2">
                    <c:v>LogReg TF-IDF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0.434</c:v>
                </c:pt>
                <c:pt idx="1">
                  <c:v>0.457</c:v>
                </c:pt>
                <c:pt idx="2">
                  <c:v>0.473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macro</c:v>
                </c:pt>
              </c:strCache>
            </c:strRef>
          </c:tx>
          <c:spPr>
            <a:solidFill>
              <a:srgbClr val="B0893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LogReg estructural</c:v>
                  </c:pt>
                  <c:pt idx="1">
                    <c:v>HistGB ajustado</c:v>
                  </c:pt>
                  <c:pt idx="2">
                    <c:v>LogReg TF-IDF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0.365</c:v>
                </c:pt>
                <c:pt idx="1">
                  <c:v>0.451</c:v>
                </c:pt>
                <c:pt idx="2">
                  <c:v>0.455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5"/>
          <c:min val="0"/>
        </c:scaling>
        <c:delete val="0"/>
        <c:axPos val="l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355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3557"/>
                </a:solidFill>
                <a:latin typeface="+mn-lt"/>
              </a:rPr>
              <a:t>Tiempo de entrenamiento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Segundos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0.0 &quot;s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A4C9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LogReg estructural</c:v>
                  </c:pt>
                  <c:pt idx="1">
                    <c:v>HistGB ajustado</c:v>
                  </c:pt>
                  <c:pt idx="2">
                    <c:v>LogReg TF-IDF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</c:v>
                </c:pt>
                <c:pt idx="1">
                  <c:v>6.2</c:v>
                </c:pt>
                <c:pt idx="2">
                  <c:v>83.5</c:v>
                </c:pt>
              </c:numCache>
            </c:numRef>
          </c:val>
        </c:ser>
        <c:dLbls>
          <c:numFmt formatCode="0.0 &quot;s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355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3557"/>
                </a:solidFill>
                <a:latin typeface="+mn-lt"/>
              </a:rPr>
              <a:t>Exhaustividad del empate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empate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A4C9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LogReg estructural</c:v>
                  </c:pt>
                  <c:pt idx="1">
                    <c:v>HistGB ajustado</c:v>
                  </c:pt>
                  <c:pt idx="2">
                    <c:v>LogReg TF-IDF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0.05</c:v>
                </c:pt>
                <c:pt idx="1">
                  <c:v>0.34</c:v>
                </c:pt>
                <c:pt idx="2">
                  <c:v>0.25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355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3557"/>
                </a:solidFill>
                <a:latin typeface="+mn-lt"/>
              </a:rPr>
              <a:t>Exactitud según la longitud relativa de A y B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LogReg TF-IDF</c:v>
                </c:pt>
              </c:strCache>
            </c:strRef>
          </c:tx>
          <c:spPr>
            <a:solidFill>
              <a:srgbClr val="6A4C93"/>
            </a:solidFill>
            <a:ln w="31750" cap="flat">
              <a:solidFill>
                <a:srgbClr val="6A4C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6A4C93"/>
              </a:solidFill>
              <a:ln w="9525" cap="flat">
                <a:solidFill>
                  <a:srgbClr val="6A4C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B mucho más larga</c:v>
                  </c:pt>
                  <c:pt idx="1">
                    <c:v>B más larga</c:v>
                  </c:pt>
                  <c:pt idx="2">
                    <c:v>Similares</c:v>
                  </c:pt>
                  <c:pt idx="3">
                    <c:v>A más larga</c:v>
                  </c:pt>
                  <c:pt idx="4">
                    <c:v>A mucho más larga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0.544</c:v>
                </c:pt>
                <c:pt idx="1">
                  <c:v>0.463</c:v>
                </c:pt>
                <c:pt idx="2">
                  <c:v>0.42</c:v>
                </c:pt>
                <c:pt idx="3">
                  <c:v>0.5</c:v>
                </c:pt>
                <c:pt idx="4">
                  <c:v>0.536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HistGB ajustado</c:v>
                </c:pt>
              </c:strCache>
            </c:strRef>
          </c:tx>
          <c:spPr>
            <a:solidFill>
              <a:srgbClr val="1B998B"/>
            </a:solidFill>
            <a:ln w="31750" cap="flat">
              <a:solidFill>
                <a:srgbClr val="1B99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B mucho más larga</c:v>
                  </c:pt>
                  <c:pt idx="1">
                    <c:v>B más larga</c:v>
                  </c:pt>
                  <c:pt idx="2">
                    <c:v>Similares</c:v>
                  </c:pt>
                  <c:pt idx="3">
                    <c:v>A más larga</c:v>
                  </c:pt>
                  <c:pt idx="4">
                    <c:v>A mucho más larga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0.513</c:v>
                </c:pt>
                <c:pt idx="1">
                  <c:v>0.469</c:v>
                </c:pt>
                <c:pt idx="2">
                  <c:v>0.408</c:v>
                </c:pt>
                <c:pt idx="3">
                  <c:v>0.473</c:v>
                </c:pt>
                <c:pt idx="4">
                  <c:v>0.501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LogReg estructural</c:v>
                </c:pt>
              </c:strCache>
            </c:strRef>
          </c:tx>
          <c:spPr>
            <a:solidFill>
              <a:srgbClr val="4A6FA5"/>
            </a:solidFill>
            <a:ln w="31750" cap="flat">
              <a:solidFill>
                <a:srgbClr val="4A6F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4A6FA5"/>
              </a:solidFill>
              <a:ln w="9525" cap="flat">
                <a:solidFill>
                  <a:srgbClr val="4A6F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B mucho más larga</c:v>
                  </c:pt>
                  <c:pt idx="1">
                    <c:v>B más larga</c:v>
                  </c:pt>
                  <c:pt idx="2">
                    <c:v>Similares</c:v>
                  </c:pt>
                  <c:pt idx="3">
                    <c:v>A más larga</c:v>
                  </c:pt>
                  <c:pt idx="4">
                    <c:v>A mucho más larga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0.515</c:v>
                </c:pt>
                <c:pt idx="1">
                  <c:v>0.44</c:v>
                </c:pt>
                <c:pt idx="2">
                  <c:v>0.365</c:v>
                </c:pt>
                <c:pt idx="3">
                  <c:v>0.468</c:v>
                </c:pt>
                <c:pt idx="4">
                  <c:v>0.495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Línea base</c:v>
                </c:pt>
              </c:strCache>
            </c:strRef>
          </c:tx>
          <c:spPr>
            <a:solidFill>
              <a:srgbClr val="BDBDBD"/>
            </a:solidFill>
            <a:ln w="31750" cap="flat">
              <a:solidFill>
                <a:srgbClr val="BDBD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BDBDBD"/>
              </a:solidFill>
              <a:ln w="9525" cap="flat">
                <a:solidFill>
                  <a:srgbClr val="BDBD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B mucho más larga</c:v>
                  </c:pt>
                  <c:pt idx="1">
                    <c:v>B más larga</c:v>
                  </c:pt>
                  <c:pt idx="2">
                    <c:v>Similares</c:v>
                  </c:pt>
                  <c:pt idx="3">
                    <c:v>A más larga</c:v>
                  </c:pt>
                  <c:pt idx="4">
                    <c:v>A mucho más larga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0.24</c:v>
                </c:pt>
                <c:pt idx="1">
                  <c:v>0.25</c:v>
                </c:pt>
                <c:pt idx="2">
                  <c:v>0.331</c:v>
                </c:pt>
                <c:pt idx="3">
                  <c:v>0.469</c:v>
                </c:pt>
                <c:pt idx="4">
                  <c:v>0.494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.2"/>
        </c:scaling>
        <c:delete val="0"/>
        <c:axPos val="l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resultados del Proyecto 2: del análisis exploratorio pasamos a modelos predictivos y a una aplicación interactiva.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280160" y="320040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CADCFC"/>
                </a:solidFill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B0893B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592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592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9FB3CC"/>
                </a:solidFill>
              </a:rPr>
              <a:t>UNIVERSIDAD DEL VALLE DE GUATEMALA  ·  CIENCIA DE DATOS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¿Quién gana la batalla?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280160" y="3200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Predicción de la preferencia humana en Chatbot Arena: modelos, resultados y aplicación</a:t>
            </a:r>
            <a:endParaRPr lang="en-US" sz="2000" dirty="0"/>
          </a:p>
        </p:txBody>
      </p:sp>
      <p:sp>
        <p:nvSpPr>
          <p:cNvPr id="5" name="separador"/>
          <p:cNvSpPr/>
          <p:nvPr/>
        </p:nvSpPr>
        <p:spPr>
          <a:xfrm>
            <a:off x="5641848" y="4206240"/>
            <a:ext cx="914400" cy="54864"/>
          </a:xfrm>
          <a:prstGeom prst="rect">
            <a:avLst/>
          </a:prstGeom>
          <a:solidFill>
            <a:srgbClr val="B08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6ECF5"/>
                </a:solidFill>
              </a:rPr>
              <a:t>Javier López · Pedro Ávila · Brandon Rivera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6ECF5"/>
                </a:solidFill>
              </a:rPr>
              <a:t>Grupo 5  ·  Proyecto 2 – Reto 10  ·  18 de octubre de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93B"/>
                </a:solidFill>
              </a:rPr>
              <a:t>CONTENIDO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Agenda</a:t>
            </a:r>
            <a:endParaRPr lang="en-US" sz="3200" dirty="0"/>
          </a:p>
        </p:txBody>
      </p:sp>
      <p:sp>
        <p:nvSpPr>
          <p:cNvPr id="4" name="num 1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Problema y objetivos</a:t>
            </a:r>
            <a:endParaRPr lang="en-US" sz="2000" dirty="0"/>
          </a:p>
        </p:txBody>
      </p:sp>
      <p:sp>
        <p:nvSpPr>
          <p:cNvPr id="7" name="num 2"/>
          <p:cNvSpPr/>
          <p:nvPr/>
        </p:nvSpPr>
        <p:spPr>
          <a:xfrm>
            <a:off x="822960" y="225856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2585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Qué dice la literatura</a:t>
            </a:r>
            <a:endParaRPr lang="en-US" sz="2000" dirty="0"/>
          </a:p>
        </p:txBody>
      </p:sp>
      <p:sp>
        <p:nvSpPr>
          <p:cNvPr id="10" name="num 3"/>
          <p:cNvSpPr/>
          <p:nvPr/>
        </p:nvSpPr>
        <p:spPr>
          <a:xfrm>
            <a:off x="822960" y="2916936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91693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Datos y lo que aprendimos del EDA</a:t>
            </a:r>
            <a:endParaRPr lang="en-US" sz="2000" dirty="0"/>
          </a:p>
        </p:txBody>
      </p:sp>
      <p:sp>
        <p:nvSpPr>
          <p:cNvPr id="13" name="num 4"/>
          <p:cNvSpPr/>
          <p:nvPr/>
        </p:nvSpPr>
        <p:spPr>
          <a:xfrm>
            <a:off x="822960" y="3575304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5753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Metodología y modelos</a:t>
            </a:r>
            <a:endParaRPr lang="en-US" sz="2000" dirty="0"/>
          </a:p>
        </p:txBody>
      </p:sp>
      <p:sp>
        <p:nvSpPr>
          <p:cNvPr id="16" name="num 5"/>
          <p:cNvSpPr/>
          <p:nvPr/>
        </p:nvSpPr>
        <p:spPr>
          <a:xfrm>
            <a:off x="822960" y="423367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2336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Resultados y comparación</a:t>
            </a:r>
            <a:endParaRPr lang="en-US" sz="2000" dirty="0"/>
          </a:p>
        </p:txBody>
      </p:sp>
      <p:sp>
        <p:nvSpPr>
          <p:cNvPr id="19" name="num 6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892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La aplicación</a:t>
            </a:r>
            <a:endParaRPr lang="en-US" sz="2000" dirty="0"/>
          </a:p>
        </p:txBody>
      </p:sp>
      <p:sp>
        <p:nvSpPr>
          <p:cNvPr id="22" name="num 7"/>
          <p:cNvSpPr/>
          <p:nvPr/>
        </p:nvSpPr>
        <p:spPr>
          <a:xfrm>
            <a:off x="822960" y="555040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550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55504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Conclusiones</a:t>
            </a:r>
            <a:endParaRPr lang="en-US" sz="2000" dirty="0"/>
          </a:p>
        </p:txBody>
      </p:sp>
      <p:pic>
        <p:nvPicPr>
          <p:cNvPr id="25" name="vista de la app" descr="C:\Users\jlope\Documents\UVG\DataScience\Proyecto2-Data-Science\entregables\capturas_app\app_3_predeci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1554480"/>
            <a:ext cx="438912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592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93B"/>
                </a:solidFill>
              </a:rPr>
              <a:t>1 · PROBLEMA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Predecir el voto humano: A, B o empate</a:t>
            </a:r>
            <a:endParaRPr lang="en-US" sz="3200" dirty="0"/>
          </a:p>
        </p:txBody>
      </p:sp>
      <p:sp>
        <p:nvSpPr>
          <p:cNvPr id="4" name="problema"/>
          <p:cNvSpPr/>
          <p:nvPr/>
        </p:nvSpPr>
        <p:spPr>
          <a:xfrm>
            <a:off x="548640" y="1600200"/>
            <a:ext cx="512064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3557"/>
                </a:solidFill>
              </a:rPr>
              <a:t>El problema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Dado un prompt y dos respuestas de LLM anónimos, estimar la probabilidad de que una persona prefiera </a:t>
            </a:r>
            <a:pPr indent="0" marL="0">
              <a:buNone/>
            </a:pPr>
            <a:r>
              <a:rPr lang="en-US" sz="1800" b="1" dirty="0">
                <a:solidFill>
                  <a:srgbClr val="2E6FBA"/>
                </a:solidFill>
              </a:rPr>
              <a:t>A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800" b="1" dirty="0">
                <a:solidFill>
                  <a:srgbClr val="E8833A"/>
                </a:solidFill>
              </a:rPr>
              <a:t>B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o declare </a:t>
            </a:r>
            <a:pPr indent="0" marL="0">
              <a:buNone/>
            </a:pPr>
            <a:r>
              <a:rPr lang="en-US" sz="1800" b="1" dirty="0">
                <a:solidFill>
                  <a:srgbClr val="6F757B"/>
                </a:solidFill>
              </a:rPr>
              <a:t>empate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Clasificación multiclase probabilística de PLN. Métrica: log loss (la de Kaggle). Azar = ln 3 ≈ 1.099.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Objetivos específicos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210312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Revisar la literatura para elegir algoritmos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Limpiar los datos y derivar variables del texto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Entrenar, ajustar y comparar ≥ 3 modelos en un conjunto de prueba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Construir una app para explorar datos, predecir y ver el rendimiento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592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93B"/>
                </a:solidFill>
              </a:rPr>
              <a:t>2 · REVISIÓN BIBLIOGRÁFICA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 literatura apunta a dos fuentes de señal</a:t>
            </a:r>
            <a:endParaRPr lang="en-US" sz="3200" dirty="0"/>
          </a:p>
        </p:txBody>
      </p:sp>
      <p:sp>
        <p:nvSpPr>
          <p:cNvPr id="4" name="literatura Sesgos del votante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5" name="icono Sesgos del votante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2E6FB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Sesgos del votante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</a:rPr>
              <a:t>Zheng et al. (2023); Wang et al. (2024)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Las personas y los LLM jueces prefieren respuestas largas, con formato y en cierta posición.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09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6FBA"/>
                </a:solidFill>
              </a:rPr>
              <a:t>→ Variables de longitud y formato, comparativas A − B</a:t>
            </a:r>
            <a:endParaRPr lang="en-US" sz="1400" dirty="0"/>
          </a:p>
        </p:txBody>
      </p:sp>
      <p:sp>
        <p:nvSpPr>
          <p:cNvPr id="11" name="literatura Contenido del texto"/>
          <p:cNvSpPr/>
          <p:nvPr/>
        </p:nvSpPr>
        <p:spPr>
          <a:xfrm>
            <a:off x="429768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2" name="icono Contenido del texto"/>
          <p:cNvSpPr/>
          <p:nvPr/>
        </p:nvSpPr>
        <p:spPr>
          <a:xfrm>
            <a:off x="4572000" y="1828800"/>
            <a:ext cx="502920" cy="502920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Contenido del texto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</a:rPr>
              <a:t>Ouyang et al. (2022); Salton &amp; Buckley (1988)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Los modelos de recompensa aprenden de comparaciones humanas; el contenido se representa con TF-IDF o transformers.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709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4C93"/>
                </a:solidFill>
              </a:rPr>
              <a:t>→ Regresión logística con TF-IDF, calibrada</a:t>
            </a:r>
            <a:endParaRPr lang="en-US" sz="1400" dirty="0"/>
          </a:p>
        </p:txBody>
      </p:sp>
      <p:sp>
        <p:nvSpPr>
          <p:cNvPr id="18" name="literatura No linealidad"/>
          <p:cNvSpPr/>
          <p:nvPr/>
        </p:nvSpPr>
        <p:spPr>
          <a:xfrm>
            <a:off x="804672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9" name="icono No linealidad"/>
          <p:cNvSpPr/>
          <p:nvPr/>
        </p:nvSpPr>
        <p:spPr>
          <a:xfrm>
            <a:off x="8321040" y="182880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210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No linealidad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</a:rPr>
              <a:t>Friedman (2001); Ke et al. (2017)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gradient boosting por histogramas captura interacciones entre variables con poco costo.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4709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</a:rPr>
              <a:t>→ HistGradientBoosting con GridSearchCV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</a:rPr>
              <a:t>Los transformers ajustados (BERT, DeBERTa, LLM + LoRA) son el estado del arte, pero requieren GPU: quedan como trabajo futuro.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592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93B"/>
                </a:solidFill>
              </a:rPr>
              <a:t>3 · DATOS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57 mil batallas reales, 18 variables derivadas</a:t>
            </a:r>
            <a:endParaRPr lang="en-US" sz="3200" dirty="0"/>
          </a:p>
        </p:txBody>
      </p:sp>
      <p:sp>
        <p:nvSpPr>
          <p:cNvPr id="4" name="tarjeta batallas tras quitar 7 duplicados"/>
          <p:cNvSpPr/>
          <p:nvPr/>
        </p:nvSpPr>
        <p:spPr>
          <a:xfrm>
            <a:off x="548640" y="160020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099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57,470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500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batallas tras quitar 7 duplicados</a:t>
            </a:r>
            <a:endParaRPr lang="en-US" sz="1200" dirty="0"/>
          </a:p>
        </p:txBody>
      </p:sp>
      <p:sp>
        <p:nvSpPr>
          <p:cNvPr id="7" name="tarjeta variables de longitud, formato y turnos"/>
          <p:cNvSpPr/>
          <p:nvPr/>
        </p:nvSpPr>
        <p:spPr>
          <a:xfrm>
            <a:off x="3337560" y="160020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7099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18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3500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variables de longitud, formato y turnos</a:t>
            </a:r>
            <a:endParaRPr lang="en-US" sz="1200" dirty="0"/>
          </a:p>
        </p:txBody>
      </p:sp>
      <p:sp>
        <p:nvSpPr>
          <p:cNvPr id="10" name="tarjeta batallas de entrenamiento (80%)"/>
          <p:cNvSpPr/>
          <p:nvPr/>
        </p:nvSpPr>
        <p:spPr>
          <a:xfrm>
            <a:off x="6126480" y="160020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7099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45,976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3500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batallas de entrenamiento (80%)</a:t>
            </a:r>
            <a:endParaRPr lang="en-US" sz="1200" dirty="0"/>
          </a:p>
        </p:txBody>
      </p:sp>
      <p:sp>
        <p:nvSpPr>
          <p:cNvPr id="13" name="tarjeta batallas de prueba (20%, estratificado)"/>
          <p:cNvSpPr/>
          <p:nvPr/>
        </p:nvSpPr>
        <p:spPr>
          <a:xfrm>
            <a:off x="8915400" y="1600200"/>
            <a:ext cx="26974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15400" y="170992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11,494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3500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batallas de prueba (20%, estratificado)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54680"/>
            <a:ext cx="11064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Texto en JSON por turno → decodificado; objetivo winner ∈ {A, B, empate} (34.9% / 34.2% / 30.9%)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Variables comparativas al estilo Bradley–Terry: len_diff, len_ratio = log(len A / len B), fmt_diff, a_is_longer…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TF-IDF de 1–2 gramas para A y B (20,000 rasgos cada una) y variables estandarizadas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identidad del modelo NO se usa: no está disponible al predecir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592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93B"/>
                </a:solidFill>
              </a:rPr>
              <a:t>3 · LO QUE APRENDIMOS DEL EDA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 respuesta más larga suele ganar</a:t>
            </a:r>
            <a:endParaRPr lang="en-US" sz="3200" dirty="0"/>
          </a:p>
        </p:txBody>
      </p:sp>
      <p:pic>
        <p:nvPicPr>
          <p:cNvPr id="4" name="sesgo de verbosidad" descr="C:\Users\jlope\Documents\UVG\DataScience\Proyecto2-Data-Science\web\public\figs\verbos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7498080" cy="2350008"/>
          </a:xfrm>
          <a:prstGeom prst="rect">
            <a:avLst/>
          </a:prstGeom>
        </p:spPr>
      </p:pic>
      <p:sp>
        <p:nvSpPr>
          <p:cNvPr id="5" name="tarjeta gana la más larga (sin empates)"/>
          <p:cNvSpPr/>
          <p:nvPr/>
        </p:nvSpPr>
        <p:spPr>
          <a:xfrm>
            <a:off x="8412480" y="1600200"/>
            <a:ext cx="32004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17099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6FBA"/>
                </a:solidFill>
              </a:rPr>
              <a:t>61.5%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23500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gana la más larga (sin empates)</a:t>
            </a:r>
            <a:endParaRPr lang="en-US" sz="1200" dirty="0"/>
          </a:p>
        </p:txBody>
      </p:sp>
      <p:sp>
        <p:nvSpPr>
          <p:cNvPr id="8" name="tarjeta si es ≥ 5 veces más larga"/>
          <p:cNvSpPr/>
          <p:nvPr/>
        </p:nvSpPr>
        <p:spPr>
          <a:xfrm>
            <a:off x="8412480" y="3017520"/>
            <a:ext cx="32004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0" y="31272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33A"/>
                </a:solidFill>
              </a:rPr>
              <a:t>68.7%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37673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si es ≥ 5 veces más larga</a:t>
            </a:r>
            <a:endParaRPr lang="en-US" sz="1200" dirty="0"/>
          </a:p>
        </p:txBody>
      </p:sp>
      <p:sp>
        <p:nvSpPr>
          <p:cNvPr id="11" name="tarjeta correlación máxima de una variable con el voto"/>
          <p:cNvSpPr/>
          <p:nvPr/>
        </p:nvSpPr>
        <p:spPr>
          <a:xfrm>
            <a:off x="8412480" y="4434840"/>
            <a:ext cx="32004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45445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|ρ| ≤ 0.24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8549640" y="51846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correlación máxima de una variable con el voto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572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</a:rPr>
              <a:t>Señales reales pero débiles: esperábamos superar al azar por un margen modesto.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592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93B"/>
                </a:solidFill>
              </a:rPr>
              <a:t>4 · METODOLOGÍA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 los datos a la aplicación en seis pasos</a:t>
            </a:r>
            <a:endParaRPr lang="en-US" sz="3200" dirty="0"/>
          </a:p>
        </p:txBody>
      </p:sp>
      <p:sp>
        <p:nvSpPr>
          <p:cNvPr id="4" name="paso EDA"/>
          <p:cNvSpPr/>
          <p:nvPr/>
        </p:nvSpPr>
        <p:spPr>
          <a:xfrm>
            <a:off x="548640" y="1920240"/>
            <a:ext cx="164592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EDA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CF5"/>
                </a:solidFill>
              </a:rPr>
              <a:t>sesgos y variables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317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B6B7F"/>
                </a:solidFill>
              </a:rPr>
              <a:t>›</a:t>
            </a:r>
            <a:endParaRPr lang="en-US" sz="2800" dirty="0"/>
          </a:p>
        </p:txBody>
      </p:sp>
      <p:sp>
        <p:nvSpPr>
          <p:cNvPr id="8" name="paso Variables"/>
          <p:cNvSpPr/>
          <p:nvPr/>
        </p:nvSpPr>
        <p:spPr>
          <a:xfrm>
            <a:off x="2423160" y="1920240"/>
            <a:ext cx="164592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2316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2</a:t>
            </a:r>
            <a:endParaRPr lang="en-US" sz="1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Variables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CF5"/>
                </a:solidFill>
              </a:rPr>
              <a:t>18 + TF-IDF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23317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B6B7F"/>
                </a:solidFill>
              </a:rPr>
              <a:t>›</a:t>
            </a:r>
            <a:endParaRPr lang="en-US" sz="2800" dirty="0"/>
          </a:p>
        </p:txBody>
      </p:sp>
      <p:sp>
        <p:nvSpPr>
          <p:cNvPr id="12" name="paso Partición"/>
          <p:cNvSpPr/>
          <p:nvPr/>
        </p:nvSpPr>
        <p:spPr>
          <a:xfrm>
            <a:off x="4297680" y="1920240"/>
            <a:ext cx="164592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9768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3</a:t>
            </a:r>
            <a:endParaRPr lang="en-US" sz="1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Partición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CF5"/>
                </a:solidFill>
              </a:rPr>
              <a:t>80/20 estratificada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3317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B6B7F"/>
                </a:solidFill>
              </a:rPr>
              <a:t>›</a:t>
            </a:r>
            <a:endParaRPr lang="en-US" sz="2800" dirty="0"/>
          </a:p>
        </p:txBody>
      </p:sp>
      <p:sp>
        <p:nvSpPr>
          <p:cNvPr id="16" name="paso Entrenar"/>
          <p:cNvSpPr/>
          <p:nvPr/>
        </p:nvSpPr>
        <p:spPr>
          <a:xfrm>
            <a:off x="6172200" y="1920240"/>
            <a:ext cx="164592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4</a:t>
            </a:r>
            <a:endParaRPr lang="en-US" sz="1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Entrenar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CF5"/>
                </a:solidFill>
              </a:rPr>
              <a:t>4 modelos + base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23317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B6B7F"/>
                </a:solidFill>
              </a:rPr>
              <a:t>›</a:t>
            </a:r>
            <a:endParaRPr lang="en-US" sz="2800" dirty="0"/>
          </a:p>
        </p:txBody>
      </p:sp>
      <p:sp>
        <p:nvSpPr>
          <p:cNvPr id="20" name="paso Ajustar"/>
          <p:cNvSpPr/>
          <p:nvPr/>
        </p:nvSpPr>
        <p:spPr>
          <a:xfrm>
            <a:off x="8046720" y="1920240"/>
            <a:ext cx="164592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5</a:t>
            </a:r>
            <a:endParaRPr lang="en-US" sz="1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Ajustar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CF5"/>
                </a:solidFill>
              </a:rPr>
              <a:t>CV 3 pliegues, log loss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23317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B6B7F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paso App"/>
          <p:cNvSpPr/>
          <p:nvPr/>
        </p:nvSpPr>
        <p:spPr>
          <a:xfrm>
            <a:off x="9921240" y="1920240"/>
            <a:ext cx="1645920" cy="1463040"/>
          </a:xfrm>
          <a:prstGeom prst="roundRect">
            <a:avLst>
              <a:gd name="adj" fmla="val 6250"/>
            </a:avLst>
          </a:prstGeom>
          <a:solidFill>
            <a:schemeClr val="accent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92124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6</a:t>
            </a:r>
            <a:endParaRPr lang="en-US" sz="1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App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01268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CF5"/>
                </a:solidFill>
              </a:rPr>
              <a:t>Streamlit + Plotly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88620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conjunto de prueba no se tocó hasta el final: ajuste y calibración con validación cruzada dentro del entrenamiento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Semilla fija (42): la app reproduce la misma partición y sus predicciones coinciden con el cuaderno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Todo en CPU en laptops personales: Python, pandas, scikit-learn, matplotlib, Streamlit, Plotly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592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93B"/>
                </a:solidFill>
              </a:rPr>
              <a:t>4 · MODELOS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Tres algoritmos, del más simple al más rico</a:t>
            </a:r>
            <a:endParaRPr lang="en-US" sz="3200" dirty="0"/>
          </a:p>
        </p:txBody>
      </p:sp>
      <p:graphicFrame>
        <p:nvGraphicFramePr>
          <p:cNvPr id="9" name="tabla de model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4846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Entrada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Ajuste de parámetros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6F757B"/>
                          </a:solidFill>
                        </a:rPr>
                        <a:t>Línea base (a priori)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Ninguna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Predice la proporción de clases del entrenamiento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4A6FA5"/>
                          </a:solidFill>
                        </a:rPr>
                        <a:t>LogReg estructural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18 variables estandarizadas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L2, C = 1.0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A4C93"/>
                          </a:solidFill>
                        </a:rPr>
                        <a:t>LogReg TF-IDF + estructura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TF-IDF de A y B + 18 variables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C = 0.3 (más regularización) + calibración sigmoide (Platt, cv = 3)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998B"/>
                          </a:solidFill>
                        </a:rPr>
                        <a:t>HistGradientBoosting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18 variables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GridSearchCV de 12 combinaciones → lr = 0.05, 300 iter., L2 = 1.0; parada temprana en 43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aprendizaje clave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9834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4C93"/>
                </a:solidFill>
              </a:rPr>
              <a:t>Lección clave: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sin calibrar, el modelo TF-IDF era sobreconfiado y su log loss era peor que la del azar pese a buena exactitud. La calibración lo convirtió en el mejor.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592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93B"/>
                </a:solidFill>
              </a:rPr>
              <a:t>5 · RESULTADOS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Todos superan al azar; el TF-IDF calibrado gana</a:t>
            </a:r>
            <a:endParaRPr lang="en-US" sz="3200" dirty="0"/>
          </a:p>
        </p:txBody>
      </p:sp>
      <p:graphicFrame>
        <p:nvGraphicFramePr>
          <p:cNvPr id="4" name="grafica log loss" descr=""/>
          <p:cNvGraphicFramePr/>
          <p:nvPr/>
        </p:nvGraphicFramePr>
        <p:xfrm>
          <a:off x="548640" y="15544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rjeta log loss del mejor modelo (azar: 1.099)"/>
          <p:cNvSpPr/>
          <p:nvPr/>
        </p:nvSpPr>
        <p:spPr>
          <a:xfrm>
            <a:off x="7863840" y="1600200"/>
            <a:ext cx="3749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7099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A4C93"/>
                </a:solidFill>
              </a:rPr>
              <a:t>1.0414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350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log loss del mejor modelo (azar: 1.099)</a:t>
            </a:r>
            <a:endParaRPr lang="en-US" sz="1200" dirty="0"/>
          </a:p>
        </p:txBody>
      </p:sp>
      <p:sp>
        <p:nvSpPr>
          <p:cNvPr id="8" name="tarjeta exactitud (línea base: 34.9%)"/>
          <p:cNvSpPr/>
          <p:nvPr/>
        </p:nvSpPr>
        <p:spPr>
          <a:xfrm>
            <a:off x="7863840" y="3017520"/>
            <a:ext cx="3749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31272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A4C93"/>
                </a:solidFill>
              </a:rPr>
              <a:t>47.3%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7673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exactitud (línea base: 34.9%)</a:t>
            </a:r>
            <a:endParaRPr lang="en-US" sz="1200" dirty="0"/>
          </a:p>
        </p:txBody>
      </p:sp>
      <p:sp>
        <p:nvSpPr>
          <p:cNvPr id="11" name="tarjeta log loss frente a la línea base"/>
          <p:cNvSpPr/>
          <p:nvPr/>
        </p:nvSpPr>
        <p:spPr>
          <a:xfrm>
            <a:off x="7863840" y="4434840"/>
            <a:ext cx="3749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0" y="45445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−5.1%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51846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log loss frente a la línea base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592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93B"/>
                </a:solidFill>
              </a:rPr>
              <a:t>5 · RESULTADOS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HistGB logra casi lo mismo, 13 veces más rápido</a:t>
            </a:r>
            <a:endParaRPr lang="en-US" sz="3200" dirty="0"/>
          </a:p>
        </p:txBody>
      </p:sp>
      <p:graphicFrame>
        <p:nvGraphicFramePr>
          <p:cNvPr id="4" name="grafica exactitud f1" descr=""/>
          <p:cNvGraphicFramePr/>
          <p:nvPr/>
        </p:nvGraphicFramePr>
        <p:xfrm>
          <a:off x="548640" y="155448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grafica tiempo" descr=""/>
          <p:cNvGraphicFramePr/>
          <p:nvPr/>
        </p:nvGraphicFramePr>
        <p:xfrm>
          <a:off x="6492240" y="155448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592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93B"/>
                </a:solidFill>
              </a:rPr>
              <a:t>5 · ERRORES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 empate es la clase más difícil</a:t>
            </a:r>
            <a:endParaRPr lang="en-US" sz="3200" dirty="0"/>
          </a:p>
        </p:txBody>
      </p:sp>
      <p:pic>
        <p:nvPicPr>
          <p:cNvPr id="4" name="matrices de confusion" descr="C:\Users\jlope\Documents\UVG\DataScience\Proyecto2-Data-Science\notebooks\resultados_modelado\matrices_confusion_model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680960" cy="2368296"/>
          </a:xfrm>
          <a:prstGeom prst="rect">
            <a:avLst/>
          </a:prstGeom>
        </p:spPr>
      </p:pic>
      <p:graphicFrame>
        <p:nvGraphicFramePr>
          <p:cNvPr id="5" name="grafica recall empate" descr=""/>
          <p:cNvGraphicFramePr/>
          <p:nvPr/>
        </p:nvGraphicFramePr>
        <p:xfrm>
          <a:off x="8412480" y="1463040"/>
          <a:ext cx="3200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34340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y B se reconocen en 50–61% de los casos; el empate se confunde con una victoria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HistGB detecta más empates (0.34): modela combinaciones como “longitudes parecidas y poco formato”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LogReg estructural casi nunca predice empate (0.05), de ahí su F1 macro bajo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592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93B"/>
                </a:solidFill>
              </a:rPr>
              <a:t>5 · ANÁLISIS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Los modelos heredan el sesgo de verbosidad</a:t>
            </a:r>
            <a:endParaRPr lang="en-US" sz="3200" dirty="0"/>
          </a:p>
        </p:txBody>
      </p:sp>
      <p:graphicFrame>
        <p:nvGraphicFramePr>
          <p:cNvPr id="4" name="grafica sesgo heredado" descr=""/>
          <p:cNvGraphicFramePr/>
          <p:nvPr/>
        </p:nvGraphicFramePr>
        <p:xfrm>
          <a:off x="548640" y="155448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rjeta exactitud si una respuesta es mucho más larga"/>
          <p:cNvSpPr/>
          <p:nvPr/>
        </p:nvSpPr>
        <p:spPr>
          <a:xfrm>
            <a:off x="8412480" y="1600200"/>
            <a:ext cx="32004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17099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A4C93"/>
                </a:solidFill>
              </a:rPr>
              <a:t>54%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23500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exactitud si una respuesta es mucho más larga</a:t>
            </a:r>
            <a:endParaRPr lang="en-US" sz="1200" dirty="0"/>
          </a:p>
        </p:txBody>
      </p:sp>
      <p:sp>
        <p:nvSpPr>
          <p:cNvPr id="8" name="tarjeta exactitud si tienen longitud similar"/>
          <p:cNvSpPr/>
          <p:nvPr/>
        </p:nvSpPr>
        <p:spPr>
          <a:xfrm>
            <a:off x="8412480" y="3017520"/>
            <a:ext cx="32004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0" y="31272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A4C93"/>
                </a:solidFill>
              </a:rPr>
              <a:t>42%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37673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exactitud si tienen longitud similar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443484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modelos aprendieron sobre todo cuál respuesta es más larga, no cuál es mejor: len_diff y len_ratio son sus variables de mayor peso.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592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93B"/>
                </a:solidFill>
              </a:rPr>
              <a:t>6 · LA APLICACIÓN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Predecir una batalla nueva con uno o todos los modelos</a:t>
            </a:r>
            <a:endParaRPr lang="en-US" sz="3200" dirty="0"/>
          </a:p>
        </p:txBody>
      </p:sp>
      <p:pic>
        <p:nvPicPr>
          <p:cNvPr id="4" name="captura prediccion" descr="C:\Users\jlope\Documents\UVG\DataScience\Proyecto2-Data-Science\entregables\capturas_app\app_3_predec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928616" cy="5029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52160" y="1645920"/>
            <a:ext cx="57607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usuario escribe un prompt y dos respuestas o carga una batalla real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preprocesamiento es invisible: las 18 variables se calculan solas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Cada modelo muestra su predicción, confianza y log loss de prueba, más el consenso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 ejemplos reales indica el voto humano y qué modelos acertaron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Colores: A azul y B naranja (complementarios), empate gris neutro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592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93B"/>
                </a:solidFill>
              </a:rPr>
              <a:t>6 · LA APLICACIÓN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Explorar los datos y el rendimiento, interactivo</a:t>
            </a:r>
            <a:endParaRPr lang="en-US" sz="3200" dirty="0"/>
          </a:p>
        </p:txBody>
      </p:sp>
      <p:pic>
        <p:nvPicPr>
          <p:cNvPr id="4" name="captura historia" descr="C:\Users\jlope\Documents\UVG\DataScience\Proyecto2-Data-Science\entregables\capturas_app\app_1_histo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3429000" cy="5001768"/>
          </a:xfrm>
          <a:prstGeom prst="rect">
            <a:avLst/>
          </a:prstGeom>
        </p:spPr>
      </p:pic>
      <p:pic>
        <p:nvPicPr>
          <p:cNvPr id="5" name="captura rendimiento" descr="C:\Users\jlope\Documents\UVG\DataScience\Proyecto2-Data-Science\entregables\presentacion\rendimiento_recor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508760"/>
            <a:ext cx="3429000" cy="500176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863840" y="1645920"/>
            <a:ext cx="37490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historia: los sesgos del EDA y qué aprendió cada modelo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Explorar datos: cualquier variable por resultado, dispersión y correlaciones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Rendimiento: métricas, matriz de confusión, calibración y sesgo de longitud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interruptor oculta el rendimiento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Streamlit + Plotly: reutiliza en Python los modelos de scikit-learn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592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93B"/>
                </a:solidFill>
              </a:rPr>
              <a:t>7 · CONCLUSIONES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 que logramos y lo que sigue</a:t>
            </a:r>
            <a:endParaRPr lang="en-US" sz="3200" dirty="0"/>
          </a:p>
        </p:txBody>
      </p:sp>
      <p:sp>
        <p:nvSpPr>
          <p:cNvPr id="4" name="conclusion Objetivos cumplidos"/>
          <p:cNvSpPr/>
          <p:nvPr/>
        </p:nvSpPr>
        <p:spPr>
          <a:xfrm>
            <a:off x="548640" y="160020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5" name="icono Objetivos cumplidos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Objetivos cumplidos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Literatura → 3 algoritmos; 18 variables; 4 modelos ajustados y comparados; app completa.</a:t>
            </a:r>
            <a:endParaRPr lang="en-US" sz="1500" dirty="0"/>
          </a:p>
        </p:txBody>
      </p:sp>
      <p:sp>
        <p:nvSpPr>
          <p:cNvPr id="9" name="conclusion Mejora real, pero modesta"/>
          <p:cNvSpPr/>
          <p:nvPr/>
        </p:nvSpPr>
        <p:spPr>
          <a:xfrm>
            <a:off x="6172200" y="160020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0" name="icono Mejora real, pero modesta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Mejora real, pero modesta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4688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TF-IDF calibrado: log loss 1.0414 y 47.3% de exactitud, frente a 1.0972 y 34.9% del azar.</a:t>
            </a:r>
            <a:endParaRPr lang="en-US" sz="1500" dirty="0"/>
          </a:p>
        </p:txBody>
      </p:sp>
      <p:sp>
        <p:nvSpPr>
          <p:cNvPr id="14" name="conclusion El sesgo manda"/>
          <p:cNvSpPr/>
          <p:nvPr/>
        </p:nvSpPr>
        <p:spPr>
          <a:xfrm>
            <a:off x="548640" y="384048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5" name="icono El sesgo manda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114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El sesgo manda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09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Los modelos aciertan 54% cuando una respuesta es mucho más larga y 42% cuando son similares.</a:t>
            </a:r>
            <a:endParaRPr lang="en-US" sz="1500" dirty="0"/>
          </a:p>
        </p:txBody>
      </p:sp>
      <p:sp>
        <p:nvSpPr>
          <p:cNvPr id="19" name="conclusion Siguiente paso"/>
          <p:cNvSpPr/>
          <p:nvPr/>
        </p:nvSpPr>
        <p:spPr>
          <a:xfrm>
            <a:off x="6172200" y="384048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0" name="icono Siguiente paso"/>
          <p:cNvSpPr/>
          <p:nvPr/>
        </p:nvSpPr>
        <p:spPr>
          <a:xfrm>
            <a:off x="6446520" y="4114800"/>
            <a:ext cx="457200" cy="4572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114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Siguiente paso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709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Ajustar un transformer sobre (prompt, A, B), promediar con A/B intercambiadas y validar por prompt.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592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Gracias — ¿preguntas?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280160" y="3200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github.com/jlope384/Proyecto2-Data-Science  ·  app: streamlit run app/app.py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Referencias principales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Chiang et al. (2024), ICML · Zheng et al. (2023), NeurIPS · Ouyang et al. (2022), NeurIPS · Wang et al. (2024), ACL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Friedman (2001), Ann. Stat. · Ke et al. (2017), NeurIPS · Salton &amp; Buckley (1988), IP&amp;M · Platt (1999) · Pedregosa et al. (2011), JMLR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Lista completa en APA en el informe final.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bot Arena">
  <a:themeElements>
    <a:clrScheme name="Chatbot Arena">
      <a:dk1>
        <a:srgbClr val="1F2933"/>
      </a:dk1>
      <a:lt1>
        <a:srgbClr val="FFFFFF"/>
      </a:lt1>
      <a:dk2>
        <a:srgbClr val="1D3557"/>
      </a:dk2>
      <a:lt2>
        <a:srgbClr val="F3F5F9"/>
      </a:lt2>
      <a:accent1>
        <a:srgbClr val="2E6FBA"/>
      </a:accent1>
      <a:accent2>
        <a:srgbClr val="E8833A"/>
      </a:accent2>
      <a:accent3>
        <a:srgbClr val="9AA0A6"/>
      </a:accent3>
      <a:accent4>
        <a:srgbClr val="6A4C93"/>
      </a:accent4>
      <a:accent5>
        <a:srgbClr val="1B998B"/>
      </a:accent5>
      <a:accent6>
        <a:srgbClr val="B0893B"/>
      </a:accent6>
      <a:hlink>
        <a:srgbClr val="2E4A70"/>
      </a:hlink>
      <a:folHlink>
        <a:srgbClr val="6A4C93"/>
      </a:folHlink>
    </a:clrScheme>
    <a:fontScheme name="Chatbot Aren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Resultados — Chatbot Arena</dc:title>
  <dc:subject>PptxGenJS Presentation</dc:subject>
  <dc:creator>Grupo 5</dc:creator>
  <cp:lastModifiedBy>Grupo 5</cp:lastModifiedBy>
  <cp:revision>1</cp:revision>
  <dcterms:created xsi:type="dcterms:W3CDTF">2026-10-19T03:33:33Z</dcterms:created>
  <dcterms:modified xsi:type="dcterms:W3CDTF">2026-10-19T03:33:33Z</dcterms:modified>
</cp:coreProperties>
</file>