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B9C9D8"/>
                </a:solidFill>
                <a:latin typeface="Calibri"/>
              </a:rPr>
              <a:t>UNIVERSIDAD DEL VALLE DE GUATEMALA  ·  CIENCIA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360152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Análisis exploratorio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063240"/>
            <a:ext cx="97840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CEDAE6"/>
                </a:solidFill>
                <a:latin typeface="Calibri"/>
              </a:rPr>
              <a:t>Preferencia humana en batallas de modelos de lenguaje: el caso de Chatbot Arena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3977639"/>
            <a:ext cx="914400" cy="3048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4251960"/>
            <a:ext cx="9784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B9C9D8"/>
                </a:solidFill>
                <a:latin typeface="Calibri"/>
              </a:rPr>
              <a:t>Proyecto 2 — Reto 10: Predicción de preferencia en batallas de Chatbot Arena · Dataset Kaggle (LMSYS)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257800"/>
            <a:ext cx="9784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E7C886"/>
                </a:solidFill>
                <a:latin typeface="Calibri"/>
              </a:rPr>
              <a:t>Javier López · Pedro Ávila · Brandon Rivera</a:t>
            </a:r>
          </a:p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E7C886"/>
                </a:solidFill>
                <a:latin typeface="Calibri"/>
              </a:rPr>
              <a:t>Grupo 5  •  13 de septiembre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CONTENIDO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B3822F"/>
                </a:solidFill>
                <a:latin typeface="Calibri"/>
              </a:rPr>
              <a:t>▪  </a:t>
            </a:r>
            <a:r>
              <a:rPr sz="1900">
                <a:solidFill>
                  <a:srgbClr val="1C1C1C"/>
                </a:solidFill>
                <a:latin typeface="Calibri"/>
              </a:rPr>
              <a:t>Contexto y problema científico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B3822F"/>
                </a:solidFill>
                <a:latin typeface="Calibri"/>
              </a:rPr>
              <a:t>▪  </a:t>
            </a:r>
            <a:r>
              <a:rPr sz="1900">
                <a:solidFill>
                  <a:srgbClr val="1C1C1C"/>
                </a:solidFill>
                <a:latin typeface="Calibri"/>
              </a:rPr>
              <a:t>Objetivos del análisis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B3822F"/>
                </a:solidFill>
                <a:latin typeface="Calibri"/>
              </a:rPr>
              <a:t>▪  </a:t>
            </a:r>
            <a:r>
              <a:rPr sz="1900">
                <a:solidFill>
                  <a:srgbClr val="1C1C1C"/>
                </a:solidFill>
                <a:latin typeface="Calibri"/>
              </a:rPr>
              <a:t>Los datos: origen, estructura y limpieza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B3822F"/>
                </a:solidFill>
                <a:latin typeface="Calibri"/>
              </a:rPr>
              <a:t>▪  </a:t>
            </a:r>
            <a:r>
              <a:rPr sz="1900">
                <a:solidFill>
                  <a:srgbClr val="1C1C1C"/>
                </a:solidFill>
                <a:latin typeface="Calibri"/>
              </a:rPr>
              <a:t>Variables y observaciones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B3822F"/>
                </a:solidFill>
                <a:latin typeface="Calibri"/>
              </a:rPr>
              <a:t>▪  </a:t>
            </a:r>
            <a:r>
              <a:rPr sz="1900">
                <a:solidFill>
                  <a:srgbClr val="1C1C1C"/>
                </a:solidFill>
                <a:latin typeface="Calibri"/>
              </a:rPr>
              <a:t>Sesgos de evaluación: verbosidad, formato y posición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B3822F"/>
                </a:solidFill>
                <a:latin typeface="Calibri"/>
              </a:rPr>
              <a:t>▪  </a:t>
            </a:r>
            <a:r>
              <a:rPr sz="1900">
                <a:solidFill>
                  <a:srgbClr val="1C1C1C"/>
                </a:solidFill>
                <a:latin typeface="Calibri"/>
              </a:rPr>
              <a:t>El modelo que responde: tasas de victoria y correlaciones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900" b="1">
                <a:solidFill>
                  <a:srgbClr val="B3822F"/>
                </a:solidFill>
                <a:latin typeface="Calibri"/>
              </a:rPr>
              <a:t>▪  </a:t>
            </a:r>
            <a:r>
              <a:rPr sz="1900">
                <a:solidFill>
                  <a:srgbClr val="1C1C1C"/>
                </a:solidFill>
                <a:latin typeface="Calibri"/>
              </a:rPr>
              <a:t>Hallazgos, conclusiones y siguientes pasos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1. 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De benchmarks estáticos a preferencia humana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0020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B3822F"/>
                </a:solidFill>
                <a:latin typeface="Calibri"/>
              </a:rPr>
              <a:t>▪  </a:t>
            </a:r>
            <a:r>
              <a:rPr sz="1700">
                <a:solidFill>
                  <a:srgbClr val="1C1C1C"/>
                </a:solidFill>
                <a:latin typeface="Calibri"/>
              </a:rPr>
              <a:t>Chatbot Arena (LMSYS): un usuario recibe dos respuestas anónimas a su prompt y vota cuál prefiere, o declara empate.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B3822F"/>
                </a:solidFill>
                <a:latin typeface="Calibri"/>
              </a:rPr>
              <a:t>▪  </a:t>
            </a:r>
            <a:r>
              <a:rPr sz="1700">
                <a:solidFill>
                  <a:srgbClr val="1C1C1C"/>
                </a:solidFill>
                <a:latin typeface="Calibri"/>
              </a:rPr>
              <a:t>Con millones de votos se construye un ranking tipo Elo de los modelos — y esos votos alimentan el entrenamiento de reward models (RLHF).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B3822F"/>
                </a:solidFill>
                <a:latin typeface="Calibri"/>
              </a:rPr>
              <a:t>▪  </a:t>
            </a:r>
            <a:r>
              <a:rPr sz="1700">
                <a:solidFill>
                  <a:srgbClr val="1C1C1C"/>
                </a:solidFill>
                <a:latin typeface="Calibri"/>
              </a:rPr>
              <a:t>Problema: recolectar votos humanos es costoso y las personas votan con sesgos conocidos — verbosidad, formato, posición.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4343400"/>
            <a:ext cx="10607040" cy="16002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6F8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52400"/>
          <a:lstStyle/>
          <a:p>
            <a:pPr algn="ctr"/>
            <a:r>
              <a:rPr b="1" sz="1200">
                <a:solidFill>
                  <a:srgbClr val="17324F"/>
                </a:solidFill>
              </a:rPr>
              <a:t>PREGUNTA DE INVESTIGACIÓN</a:t>
            </a:r>
          </a:p>
          <a:p>
            <a:pPr>
              <a:spcBef>
                <a:spcPts val="600"/>
              </a:spcBef>
            </a:pPr>
            <a:r>
              <a:rPr sz="1650" i="1">
                <a:solidFill>
                  <a:srgbClr val="1C1C1C"/>
                </a:solidFill>
              </a:rPr>
              <a:t>¿Se puede predecir qué respuesta preferirá un humano (A, B o empate) a partir del texto? ¿Qué características de las respuestas explican esa preferencia?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2. 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Qué buscamos con este análisis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D466F"/>
                </a:solidFill>
                <a:latin typeface="Calibri"/>
              </a:rPr>
              <a:t>Objetivo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202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 i="0">
                <a:solidFill>
                  <a:srgbClr val="1C1C1C"/>
                </a:solidFill>
                <a:latin typeface="Calibri"/>
              </a:rPr>
              <a:t>Comprender la estructura de las batallas y los factores asociados a la preferencia humana, como base para un futuro modelo predictivo.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889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1D466F"/>
                </a:solidFill>
                <a:latin typeface="Calibri"/>
              </a:rPr>
              <a:t>Objetivos específicos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0040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B3822F"/>
                </a:solidFill>
                <a:latin typeface="Calibri"/>
              </a:rPr>
              <a:t>▪  </a:t>
            </a:r>
            <a:r>
              <a:rPr sz="1600">
                <a:solidFill>
                  <a:srgbClr val="1C1C1C"/>
                </a:solidFill>
                <a:latin typeface="Calibri"/>
              </a:rPr>
              <a:t>Describir y limpiar el dataset, y derivar variables cuantitativas a partir del texto.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B3822F"/>
                </a:solidFill>
                <a:latin typeface="Calibri"/>
              </a:rPr>
              <a:t>▪  </a:t>
            </a:r>
            <a:r>
              <a:rPr sz="1600">
                <a:solidFill>
                  <a:srgbClr val="1C1C1C"/>
                </a:solidFill>
                <a:latin typeface="Calibri"/>
              </a:rPr>
              <a:t>Cuantificar la relación entre la preferencia y características medibles: longitud, formato, turnos y modelo.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B3822F"/>
                </a:solidFill>
                <a:latin typeface="Calibri"/>
              </a:rPr>
              <a:t>▪  </a:t>
            </a:r>
            <a:r>
              <a:rPr sz="1600">
                <a:solidFill>
                  <a:srgbClr val="1C1C1C"/>
                </a:solidFill>
                <a:latin typeface="Calibri"/>
              </a:rPr>
              <a:t>Identificar los sesgos presentes en los votos (verbosidad, posición, empates) y su magnitud.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3.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Origen, estructura y limpieza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00200"/>
            <a:ext cx="242316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bIns="127000"/>
          <a:lstStyle/>
          <a:p>
            <a:pPr algn="ctr"/>
            <a:r>
              <a:rPr sz="3000" b="1">
                <a:solidFill>
                  <a:srgbClr val="17324F"/>
                </a:solidFill>
                <a:latin typeface="Calibri"/>
              </a:rPr>
              <a:t>57,477</a:t>
            </a:r>
          </a:p>
          <a:p>
            <a:pPr algn="ctr"/>
            <a:r>
              <a:rPr sz="1250">
                <a:solidFill>
                  <a:srgbClr val="46617F"/>
                </a:solidFill>
                <a:latin typeface="Calibri"/>
              </a:rPr>
              <a:t>batallas originales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00200"/>
            <a:ext cx="242316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bIns="127000"/>
          <a:lstStyle/>
          <a:p>
            <a:pPr algn="ctr"/>
            <a:r>
              <a:rPr sz="3000" b="1">
                <a:solidFill>
                  <a:srgbClr val="17324F"/>
                </a:solidFill>
                <a:latin typeface="Calibri"/>
              </a:rPr>
              <a:t>9 → 41</a:t>
            </a:r>
          </a:p>
          <a:p>
            <a:pPr algn="ctr"/>
            <a:r>
              <a:rPr sz="1250">
                <a:solidFill>
                  <a:srgbClr val="46617F"/>
                </a:solidFill>
                <a:latin typeface="Calibri"/>
              </a:rPr>
              <a:t>columnas (original → procesado)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70448" y="1600200"/>
            <a:ext cx="242316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bIns="127000"/>
          <a:lstStyle/>
          <a:p>
            <a:pPr algn="ctr"/>
            <a:r>
              <a:rPr sz="3000" b="1">
                <a:solidFill>
                  <a:srgbClr val="17324F"/>
                </a:solidFill>
                <a:latin typeface="Calibri"/>
              </a:rPr>
              <a:t>7</a:t>
            </a:r>
          </a:p>
          <a:p>
            <a:pPr algn="ctr"/>
            <a:r>
              <a:rPr sz="1250">
                <a:solidFill>
                  <a:srgbClr val="46617F"/>
                </a:solidFill>
                <a:latin typeface="Calibri"/>
              </a:rPr>
              <a:t>duplicados exactos eliminados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49056" y="1600200"/>
            <a:ext cx="242316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bIns="127000"/>
          <a:lstStyle/>
          <a:p>
            <a:pPr algn="ctr"/>
            <a:r>
              <a:rPr sz="3000" b="1">
                <a:solidFill>
                  <a:srgbClr val="17324F"/>
                </a:solidFill>
                <a:latin typeface="Calibri"/>
              </a:rPr>
              <a:t>0</a:t>
            </a:r>
          </a:p>
          <a:p>
            <a:pPr algn="ctr"/>
            <a:r>
              <a:rPr sz="1250">
                <a:solidFill>
                  <a:srgbClr val="46617F"/>
                </a:solidFill>
                <a:latin typeface="Calibri"/>
              </a:rPr>
              <a:t>valores faltantes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291840"/>
            <a:ext cx="106070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B3822F"/>
                </a:solidFill>
                <a:latin typeface="Calibri"/>
              </a:rPr>
              <a:t>▪  </a:t>
            </a:r>
            <a:r>
              <a:rPr sz="1550">
                <a:solidFill>
                  <a:srgbClr val="1C1C1C"/>
                </a:solidFill>
                <a:latin typeface="Calibri"/>
              </a:rPr>
              <a:t>Cada fila = una batalla: prompt + dos respuestas (modelo A y B) + voto del usuario (winner_model_a/b/tie).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B3822F"/>
                </a:solidFill>
                <a:latin typeface="Calibri"/>
              </a:rPr>
              <a:t>▪  </a:t>
            </a:r>
            <a:r>
              <a:rPr sz="1550">
                <a:solidFill>
                  <a:srgbClr val="1C1C1C"/>
                </a:solidFill>
                <a:latin typeface="Calibri"/>
              </a:rPr>
              <a:t>Se decodificó el texto (JSON por turno) y se verificó consistencia: exactamente un ganador en el 100% de las filas.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B3822F"/>
                </a:solidFill>
                <a:latin typeface="Calibri"/>
              </a:rPr>
              <a:t>▪  </a:t>
            </a:r>
            <a:r>
              <a:rPr sz="1550">
                <a:solidFill>
                  <a:srgbClr val="1C1C1C"/>
                </a:solidFill>
                <a:latin typeface="Calibri"/>
              </a:rPr>
              <a:t>Se derivaron variables de longitud, palabras, formato markdown y familia de modelo a partir del texto.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B3822F"/>
                </a:solidFill>
                <a:latin typeface="Calibri"/>
              </a:rPr>
              <a:t>▪  </a:t>
            </a:r>
            <a:r>
              <a:rPr sz="1550">
                <a:solidFill>
                  <a:srgbClr val="1C1C1C"/>
                </a:solidFill>
                <a:latin typeface="Calibri"/>
              </a:rPr>
              <a:t>Respuestas nulas (~0.2%) se conservaron como indicador — son informativas, no se imputan ni se eliminan.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4. VARIABLES Y OBSERVACIONES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El objetivo, los turnos y los modelos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32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9973"/>
            <a:ext cx="11064240" cy="28609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46617F"/>
                </a:solidFill>
                <a:latin typeface="Calibri"/>
              </a:rPr>
              <a:t>57,470 batallas · objetivo balanceado (A 34.9% / B 34.2% / empate 30.9%) · 64 modelos distintos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4. VARIABLES Y OBSERVACIONES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Estadística descriptiva: variables muy asimétricas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13232" y="1691640"/>
          <a:ext cx="10607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645920"/>
                <a:gridCol w="1645920"/>
                <a:gridCol w="1737360"/>
                <a:gridCol w="155448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rgbClr val="1D46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Media</a:t>
                      </a:r>
                    </a:p>
                  </a:txBody>
                  <a:tcPr>
                    <a:solidFill>
                      <a:srgbClr val="1D46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Mediana</a:t>
                      </a:r>
                    </a:p>
                  </a:txBody>
                  <a:tcPr>
                    <a:solidFill>
                      <a:srgbClr val="1D46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P95</a:t>
                      </a:r>
                    </a:p>
                  </a:txBody>
                  <a:tcPr>
                    <a:solidFill>
                      <a:srgbClr val="1D46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Máximo</a:t>
                      </a:r>
                    </a:p>
                  </a:txBody>
                  <a:tcPr>
                    <a:solidFill>
                      <a:srgbClr val="1D46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Asimetría</a:t>
                      </a:r>
                    </a:p>
                  </a:txBody>
                  <a:tcPr>
                    <a:solidFill>
                      <a:srgbClr val="1D466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C1C1C"/>
                          </a:solidFill>
                        </a:rPr>
                        <a:t>prompt_len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352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1,419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32,833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8.58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C1C1C"/>
                          </a:solidFill>
                        </a:rPr>
                        <a:t>len_a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1,331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1,036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3,584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53,299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5.01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C1C1C"/>
                          </a:solidFill>
                        </a:rPr>
                        <a:t>len_b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1,337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1,044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3,576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52,402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5.52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C1C1C"/>
                          </a:solidFill>
                        </a:rPr>
                        <a:t>len_ratio (A/B)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2.48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1.00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5.43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4,825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104.4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1C1C1C"/>
                          </a:solidFill>
                        </a:rPr>
                        <a:t>fmt_a / fmt_b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4.48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288 / 222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C1C1C"/>
                          </a:solidFill>
                        </a:rPr>
                        <a:t>6.20 / 5.60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13232" y="43434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 b="1">
                <a:solidFill>
                  <a:srgbClr val="B3822F"/>
                </a:solidFill>
                <a:latin typeface="Calibri"/>
              </a:rPr>
              <a:t>▪  </a:t>
            </a:r>
            <a:r>
              <a:rPr sz="1550">
                <a:solidFill>
                  <a:srgbClr val="1C1C1C"/>
                </a:solidFill>
                <a:latin typeface="Calibri"/>
              </a:rPr>
              <a:t>Todas las variables de longitud y formato tienen asimetría positiva muy fuerte (colas largas a la derecha).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50" b="1">
                <a:solidFill>
                  <a:srgbClr val="B3822F"/>
                </a:solidFill>
                <a:latin typeface="Calibri"/>
              </a:rPr>
              <a:t>▪  </a:t>
            </a:r>
            <a:r>
              <a:rPr sz="1550">
                <a:solidFill>
                  <a:srgbClr val="1C1C1C"/>
                </a:solidFill>
                <a:latin typeface="Calibri"/>
              </a:rPr>
              <a:t>Por eso los gráficos usan escala logarítmica y el análisis prioriza mediana y percentiles sobre la media.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4. VARIABLES Y OBSERVACIONES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Distribuciones de longitud (escala log)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33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49973"/>
            <a:ext cx="11064240" cy="28609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46617F"/>
                </a:solidFill>
                <a:latin typeface="Calibri"/>
              </a:rPr>
              <a:t>En log10, las longitudes se aproximan a una normal — confirma la asimetría de la Tabla anterior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5. SESGOS DE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Longitud de la respuesta según el resultado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34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72095"/>
            <a:ext cx="11064240" cy="32338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46617F"/>
                </a:solidFill>
                <a:latin typeface="Calibri"/>
              </a:rPr>
              <a:t>La respuesta ganadora es más larga: mediana 1,241 car. (gana A) vs 961 car. (pierde) — y en la razón A/B, empates ≈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5. SESGOS DE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Longitud A vs. longitud B, según el voto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35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965" y="1508760"/>
            <a:ext cx="5119590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46617F"/>
                </a:solidFill>
                <a:latin typeface="Calibri"/>
              </a:rPr>
              <a:t>Gana-A por debajo de la diagonal, gana-B por encima — con solapamiento: la longitud explica una parte del voto, no toda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5. SESGOS DE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Sesgo de verbosidad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36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68309"/>
            <a:ext cx="7589520" cy="23785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66760" y="173736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bIns="127000"/>
          <a:lstStyle/>
          <a:p>
            <a:pPr algn="ctr"/>
            <a:r>
              <a:rPr sz="3000" b="1">
                <a:solidFill>
                  <a:srgbClr val="17324F"/>
                </a:solidFill>
                <a:latin typeface="Calibri"/>
              </a:rPr>
              <a:t>61.5%</a:t>
            </a:r>
          </a:p>
          <a:p>
            <a:pPr algn="ctr"/>
            <a:r>
              <a:rPr sz="1250">
                <a:solidFill>
                  <a:srgbClr val="46617F"/>
                </a:solidFill>
                <a:latin typeface="Calibri"/>
              </a:rPr>
              <a:t>gana la respuesta más larga
(batallas sin empate)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66760" y="329184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bIns="127000"/>
          <a:lstStyle/>
          <a:p>
            <a:pPr algn="ctr"/>
            <a:r>
              <a:rPr sz="3000" b="1">
                <a:solidFill>
                  <a:srgbClr val="17324F"/>
                </a:solidFill>
                <a:latin typeface="Calibri"/>
              </a:rPr>
              <a:t>68.7%</a:t>
            </a:r>
          </a:p>
          <a:p>
            <a:pPr algn="ctr"/>
            <a:r>
              <a:rPr sz="1250">
                <a:solidFill>
                  <a:srgbClr val="46617F"/>
                </a:solidFill>
                <a:latin typeface="Calibri"/>
              </a:rPr>
              <a:t>si es 5× más larga
que la otra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4892040"/>
            <a:ext cx="32461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46617F"/>
                </a:solidFill>
                <a:latin typeface="Calibri"/>
              </a:rPr>
              <a:t>ρ Spearman(len_diff, objetivo) = 0.241 — la correlación más fuerte de todas las variables derivadas.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5. SESGOS DE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Sesgo de formato y efecto del número de turnos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37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55234"/>
            <a:ext cx="11064240" cy="34675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46617F"/>
                </a:solidFill>
                <a:latin typeface="Calibri"/>
              </a:rPr>
              <a:t>Más formato markdown → gana ~45-46% vs ~26-27% — correlacionado con la longitud; los empates bajan con más turnos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5. SESGOS DE EVALUACIÓN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Sesgo de posición: pequeño pero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bIns="127000"/>
          <a:lstStyle/>
          <a:p>
            <a:pPr algn="ctr"/>
            <a:r>
              <a:rPr sz="3000" b="1">
                <a:solidFill>
                  <a:srgbClr val="17324F"/>
                </a:solidFill>
                <a:latin typeface="Calibri"/>
              </a:rPr>
              <a:t>50.5%</a:t>
            </a:r>
          </a:p>
          <a:p>
            <a:pPr algn="ctr"/>
            <a:r>
              <a:rPr sz="1250">
                <a:solidFill>
                  <a:srgbClr val="46617F"/>
                </a:solidFill>
                <a:latin typeface="Calibri"/>
              </a:rPr>
              <a:t>gana la posición A
(batallas decididas)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82880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bIns="127000"/>
          <a:lstStyle/>
          <a:p>
            <a:pPr algn="ctr"/>
            <a:r>
              <a:rPr sz="3000" b="1">
                <a:solidFill>
                  <a:srgbClr val="17324F"/>
                </a:solidFill>
                <a:latin typeface="Calibri"/>
              </a:rPr>
              <a:t>49.5%</a:t>
            </a:r>
          </a:p>
          <a:p>
            <a:pPr algn="ctr"/>
            <a:r>
              <a:rPr sz="1250">
                <a:solidFill>
                  <a:srgbClr val="46617F"/>
                </a:solidFill>
                <a:latin typeface="Calibri"/>
              </a:rPr>
              <a:t>gana la posición B
(batallas decididas)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828800"/>
            <a:ext cx="3200400" cy="17373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bIns="127000"/>
          <a:lstStyle/>
          <a:p>
            <a:pPr algn="ctr"/>
            <a:r>
              <a:rPr sz="3000" b="1">
                <a:solidFill>
                  <a:srgbClr val="17324F"/>
                </a:solidFill>
                <a:latin typeface="Calibri"/>
              </a:rPr>
              <a:t>p = 0.038</a:t>
            </a:r>
          </a:p>
          <a:p>
            <a:pPr algn="ctr"/>
            <a:r>
              <a:rPr sz="1250">
                <a:solidFill>
                  <a:srgbClr val="46617F"/>
                </a:solidFill>
                <a:latin typeface="Calibri"/>
              </a:rPr>
              <a:t>prueba binomial
(diferencia significativa)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B3822F"/>
                </a:solidFill>
                <a:latin typeface="Calibri"/>
              </a:rPr>
              <a:t>▪  </a:t>
            </a:r>
            <a:r>
              <a:rPr sz="1500">
                <a:solidFill>
                  <a:srgbClr val="1C1C1C"/>
                </a:solidFill>
                <a:latin typeface="Calibri"/>
              </a:rPr>
              <a:t>Los modelos se asignan al azar a A/B — en ausencia de sesgo se esperaría 50% / 50%.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B3822F"/>
                </a:solidFill>
                <a:latin typeface="Calibri"/>
              </a:rPr>
              <a:t>▪  </a:t>
            </a:r>
            <a:r>
              <a:rPr sz="1500">
                <a:solidFill>
                  <a:srgbClr val="1C1C1C"/>
                </a:solidFill>
                <a:latin typeface="Calibri"/>
              </a:rPr>
              <a:t>El efecto es real (p &lt; 0.05) pero de apenas ~1 punto porcentual: mucho menor que el efecto de la longitud (61.5%).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B3822F"/>
                </a:solidFill>
                <a:latin typeface="Calibri"/>
              </a:rPr>
              <a:t>▪  </a:t>
            </a:r>
            <a:r>
              <a:rPr sz="1500">
                <a:solidFill>
                  <a:srgbClr val="1C1C1C"/>
                </a:solidFill>
                <a:latin typeface="Calibri"/>
              </a:rPr>
              <a:t>La máxima diferencia relativa de apariciones A vs B por modelo es de solo 11.5% — no explica el efecto.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6. EL MODELO QUE RESPONDE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Tasa de victoria por modelo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38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1267" y="1417320"/>
            <a:ext cx="4558985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510528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46617F"/>
                </a:solidFill>
                <a:latin typeface="Calibri"/>
              </a:rPr>
              <a:t>58 modelos con ≥300 batallas — de 76.0% (gpt-4-1106-preview) a 18.6% (chatglm2-6b). No disponible en el set de prueba.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6. EL MODELO QUE RESPONDE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¿Los modelos más “verbosos” ganan más?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39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695347"/>
            <a:ext cx="5943600" cy="40159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46617F"/>
                </a:solidFill>
                <a:latin typeface="Calibri"/>
              </a:rPr>
              <a:t>Correlación de Spearman = 0.589 entre longitud mediana del modelo y su tasa de victoria — con excepciones notables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6. EL MODELO QUE RESPONDE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Matriz de enfrentamientos (12 modelos más frecuentes)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40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36378"/>
            <a:ext cx="11247120" cy="43167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46617F"/>
                </a:solidFill>
                <a:latin typeface="Calibri"/>
              </a:rPr>
              <a:t>El ranking es en general transitivo (gpt-4 vence a casi todos), aunque algunas parejas tienen pocas batallas registradas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7. CORRELACIONES Y ATÍPICOS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Correlaciones entre variables derivadas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ell4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052" y="1417320"/>
            <a:ext cx="5731415" cy="5029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922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>
                <a:solidFill>
                  <a:srgbClr val="46617F"/>
                </a:solidFill>
                <a:latin typeface="Calibri"/>
              </a:rPr>
              <a:t>len_diff (0.24) y len_ratio (0.22) son las correlaciones más altas con el objetivo — el resto están por debajo de 0.10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7. CORRELACIONES Y ATÍPICOS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Valores atípicos: respuestas extremadamente largas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bIns="127000"/>
          <a:lstStyle/>
          <a:p>
            <a:pPr algn="ctr"/>
            <a:r>
              <a:rPr sz="3000" b="1">
                <a:solidFill>
                  <a:srgbClr val="17324F"/>
                </a:solidFill>
                <a:latin typeface="Calibri"/>
              </a:rPr>
              <a:t>822</a:t>
            </a:r>
          </a:p>
          <a:p>
            <a:pPr algn="ctr"/>
            <a:r>
              <a:rPr sz="1250">
                <a:solidFill>
                  <a:srgbClr val="46617F"/>
                </a:solidFill>
                <a:latin typeface="Calibri"/>
              </a:rPr>
              <a:t>batallas con respuesta
&gt; percentil 99 (1.4%)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51960" y="182880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bIns="127000"/>
          <a:lstStyle/>
          <a:p>
            <a:pPr algn="ctr"/>
            <a:r>
              <a:rPr sz="3000" b="1">
                <a:solidFill>
                  <a:srgbClr val="17324F"/>
                </a:solidFill>
                <a:latin typeface="Calibri"/>
              </a:rPr>
              <a:t>39.7%</a:t>
            </a:r>
          </a:p>
          <a:p>
            <a:pPr algn="ctr"/>
            <a:r>
              <a:rPr sz="1250">
                <a:solidFill>
                  <a:srgbClr val="46617F"/>
                </a:solidFill>
                <a:latin typeface="Calibri"/>
              </a:rPr>
              <a:t>de esos casos,
gana la posición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182880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B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bIns="127000"/>
          <a:lstStyle/>
          <a:p>
            <a:pPr algn="ctr"/>
            <a:r>
              <a:rPr sz="3000" b="1">
                <a:solidFill>
                  <a:srgbClr val="17324F"/>
                </a:solidFill>
                <a:latin typeface="Calibri"/>
              </a:rPr>
              <a:t>25.3%</a:t>
            </a:r>
          </a:p>
          <a:p>
            <a:pPr algn="ctr"/>
            <a:r>
              <a:rPr sz="1250">
                <a:solidFill>
                  <a:srgbClr val="46617F"/>
                </a:solidFill>
                <a:latin typeface="Calibri"/>
              </a:rPr>
              <a:t>tasa de empate
(menor que el 30.9% general)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40480"/>
            <a:ext cx="10515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B3822F"/>
                </a:solidFill>
                <a:latin typeface="Calibri"/>
              </a:rPr>
              <a:t>▪  </a:t>
            </a:r>
            <a:r>
              <a:rPr sz="1500">
                <a:solidFill>
                  <a:srgbClr val="1C1C1C"/>
                </a:solidFill>
                <a:latin typeface="Calibri"/>
              </a:rPr>
              <a:t>Generados sobre todo por modelos GPT-4 (gpt-4-1106-preview a la cabeza, con 187 casos).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B3822F"/>
                </a:solidFill>
                <a:latin typeface="Calibri"/>
              </a:rPr>
              <a:t>▪  </a:t>
            </a:r>
            <a:r>
              <a:rPr sz="1500">
                <a:solidFill>
                  <a:srgbClr val="1C1C1C"/>
                </a:solidFill>
                <a:latin typeface="Calibri"/>
              </a:rPr>
              <a:t>No se eliminan: son observaciones reales y coherentes con el patrón general de que la longitud favorece la victoria.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B3822F"/>
                </a:solidFill>
                <a:latin typeface="Calibri"/>
              </a:rPr>
              <a:t>▪  </a:t>
            </a:r>
            <a:r>
              <a:rPr sz="1500">
                <a:solidFill>
                  <a:srgbClr val="1C1C1C"/>
                </a:solidFill>
                <a:latin typeface="Calibri"/>
              </a:rPr>
              <a:t>Recomendación para modelado: transformación logarítmica de la longitud o truncar el texto a un máximo razonable.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8.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Hallazgos principales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459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B3822F"/>
                </a:solidFill>
                <a:latin typeface="Calibri"/>
              </a:rPr>
              <a:t>▪  </a:t>
            </a:r>
            <a:r>
              <a:rPr sz="1650">
                <a:solidFill>
                  <a:srgbClr val="1C1C1C"/>
                </a:solidFill>
                <a:latin typeface="Calibri"/>
              </a:rPr>
              <a:t>El dataset es limpio y está balanceado entre las 3 clases — la dificultad está en el empate (30.9%) y en que la señal útil está en texto libre.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B3822F"/>
                </a:solidFill>
                <a:latin typeface="Calibri"/>
              </a:rPr>
              <a:t>▪  </a:t>
            </a:r>
            <a:r>
              <a:rPr sz="1650">
                <a:solidFill>
                  <a:srgbClr val="1C1C1C"/>
                </a:solidFill>
                <a:latin typeface="Calibri"/>
              </a:rPr>
              <a:t>La longitud relativa de las respuestas es el factor individual más fuerte (61.5% de las decididas), seguida del formato markdown.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B3822F"/>
                </a:solidFill>
                <a:latin typeface="Calibri"/>
              </a:rPr>
              <a:t>▪  </a:t>
            </a:r>
            <a:r>
              <a:rPr sz="1650">
                <a:solidFill>
                  <a:srgbClr val="1C1C1C"/>
                </a:solidFill>
                <a:latin typeface="Calibri"/>
              </a:rPr>
              <a:t>Los empates ocurren cuando las respuestas son similares en longitud o idénticas.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B3822F"/>
                </a:solidFill>
                <a:latin typeface="Calibri"/>
              </a:rPr>
              <a:t>▪  </a:t>
            </a:r>
            <a:r>
              <a:rPr sz="1650">
                <a:solidFill>
                  <a:srgbClr val="1C1C1C"/>
                </a:solidFill>
                <a:latin typeface="Calibri"/>
              </a:rPr>
              <a:t>El sesgo de posición es real pero leve (~1 punto porcentual).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B3822F"/>
                </a:solidFill>
                <a:latin typeface="Calibri"/>
              </a:rPr>
              <a:t>▪  </a:t>
            </a:r>
            <a:r>
              <a:rPr sz="1650">
                <a:solidFill>
                  <a:srgbClr val="1C1C1C"/>
                </a:solidFill>
                <a:latin typeface="Calibri"/>
              </a:rPr>
              <a:t>La identidad del modelo explica mucho (18.6%–76.0% de victorias) pero no está disponible en el set de prueba.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50" b="1">
                <a:solidFill>
                  <a:srgbClr val="B3822F"/>
                </a:solidFill>
                <a:latin typeface="Calibri"/>
              </a:rPr>
              <a:t>▪  </a:t>
            </a:r>
            <a:r>
              <a:rPr sz="1650">
                <a:solidFill>
                  <a:srgbClr val="1C1C1C"/>
                </a:solidFill>
                <a:latin typeface="Calibri"/>
              </a:rPr>
              <a:t>Las variables de superficie (longitud, formato) tienen correlación débil con el objetivo (|ρ| ≤ 0.24): se necesitará representación del contenido textual.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8.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¿Se puede predecir la preferencia humana?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13232" y="1645920"/>
            <a:ext cx="10607040" cy="123444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6F8A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7000"/>
          <a:lstStyle/>
          <a:p>
            <a:pPr algn="ctr"/>
            <a:r>
              <a:rPr sz="1550" i="1">
                <a:solidFill>
                  <a:srgbClr val="1C1C1C"/>
                </a:solidFill>
              </a:rPr>
              <a:t>Respuesta matizada: los sesgos documentados en la literatura (Zheng et al., 2023) se confirman con datos reales de Chatbot Arena, pero las variables de superficie no bastan — la preferencia depende sobre todo del contenido.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20040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B3822F"/>
                </a:solidFill>
                <a:latin typeface="Calibri"/>
              </a:rPr>
              <a:t>▪  </a:t>
            </a:r>
            <a:r>
              <a:rPr sz="1550">
                <a:solidFill>
                  <a:srgbClr val="1C1C1C"/>
                </a:solidFill>
                <a:latin typeface="Calibri"/>
              </a:rPr>
              <a:t>Los objetivos específicos (sección 2) se cumplieron con los datos disponibles.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B3822F"/>
                </a:solidFill>
                <a:latin typeface="Calibri"/>
              </a:rPr>
              <a:t>▪  </a:t>
            </a:r>
            <a:r>
              <a:rPr sz="1550">
                <a:solidFill>
                  <a:srgbClr val="1C1C1C"/>
                </a:solidFill>
                <a:latin typeface="Calibri"/>
              </a:rPr>
              <a:t>Los sesgos investigados (verbosidad, formato, posición) sí están presentes en los datos.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B3822F"/>
                </a:solidFill>
                <a:latin typeface="Calibri"/>
              </a:rPr>
              <a:t>▪  </a:t>
            </a:r>
            <a:r>
              <a:rPr sz="1550">
                <a:solidFill>
                  <a:srgbClr val="1C1C1C"/>
                </a:solidFill>
                <a:latin typeface="Calibri"/>
              </a:rPr>
              <a:t>Las variables de superficie no bastan para resolver el problema por sí solas.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B3822F"/>
                </a:solidFill>
                <a:latin typeface="Calibri"/>
              </a:rPr>
              <a:t>▪  </a:t>
            </a:r>
            <a:r>
              <a:rPr sz="1550">
                <a:solidFill>
                  <a:srgbClr val="1C1C1C"/>
                </a:solidFill>
                <a:latin typeface="Calibri"/>
              </a:rPr>
              <a:t>El empate sigue siendo la clase más difícil de anticipar con estas variables.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82296" cy="50292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B3822F"/>
                </a:solidFill>
                <a:latin typeface="Calibri"/>
              </a:rPr>
              <a:t>8.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66928"/>
            <a:ext cx="108813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324F"/>
                </a:solidFill>
                <a:latin typeface="Calibri"/>
              </a:rPr>
              <a:t>Siguientes pasos propuestos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298448"/>
            <a:ext cx="4023360" cy="27940"/>
          </a:xfrm>
          <a:prstGeom prst="rect">
            <a:avLst/>
          </a:prstGeom>
          <a:solidFill>
            <a:srgbClr val="DBE2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69164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 b="1">
                <a:solidFill>
                  <a:srgbClr val="B3822F"/>
                </a:solidFill>
                <a:latin typeface="Calibri"/>
              </a:rPr>
              <a:t>▪  </a:t>
            </a:r>
            <a:r>
              <a:rPr sz="1650">
                <a:solidFill>
                  <a:srgbClr val="1C1C1C"/>
                </a:solidFill>
                <a:latin typeface="Calibri"/>
              </a:rPr>
              <a:t>Modelo baseline con las variables ya derivadas (longitud, formato, turnos), evaluado con log-loss multiclase.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 b="1">
                <a:solidFill>
                  <a:srgbClr val="B3822F"/>
                </a:solidFill>
                <a:latin typeface="Calibri"/>
              </a:rPr>
              <a:t>▪  </a:t>
            </a:r>
            <a:r>
              <a:rPr sz="1650">
                <a:solidFill>
                  <a:srgbClr val="1C1C1C"/>
                </a:solidFill>
                <a:latin typeface="Calibri"/>
              </a:rPr>
              <a:t>Incorporar representación del contenido: TF-IDF y luego embeddings o fine-tuning de un transformer (DeBERTa, Gemma, etc.).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 b="1">
                <a:solidFill>
                  <a:srgbClr val="B3822F"/>
                </a:solidFill>
                <a:latin typeface="Calibri"/>
              </a:rPr>
              <a:t>▪  </a:t>
            </a:r>
            <a:r>
              <a:rPr sz="1650">
                <a:solidFill>
                  <a:srgbClr val="1C1C1C"/>
                </a:solidFill>
                <a:latin typeface="Calibri"/>
              </a:rPr>
              <a:t>Validación cruzada sin fuga de información entre filas que compartan prompt o modelos.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 b="1">
                <a:solidFill>
                  <a:srgbClr val="B3822F"/>
                </a:solidFill>
                <a:latin typeface="Calibri"/>
              </a:rPr>
              <a:t>▪  </a:t>
            </a:r>
            <a:r>
              <a:rPr sz="1650">
                <a:solidFill>
                  <a:srgbClr val="1C1C1C"/>
                </a:solidFill>
                <a:latin typeface="Calibri"/>
              </a:rPr>
              <a:t>Corregir/monitorear el sesgo de posición (promediar predicciones con A/B intercambiados).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 b="1">
                <a:solidFill>
                  <a:srgbClr val="B3822F"/>
                </a:solidFill>
                <a:latin typeface="Calibri"/>
              </a:rPr>
              <a:t>▪  </a:t>
            </a:r>
            <a:r>
              <a:rPr sz="1650">
                <a:solidFill>
                  <a:srgbClr val="1C1C1C"/>
                </a:solidFill>
                <a:latin typeface="Calibri"/>
              </a:rPr>
              <a:t>Tratar aparte las batallas con respuesta nula y las de same_model.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Referencias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148840"/>
            <a:ext cx="9418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B3822F"/>
                </a:solidFill>
                <a:latin typeface="Calibri"/>
              </a:rPr>
              <a:t>▪  </a:t>
            </a:r>
            <a:r>
              <a:rPr sz="1500">
                <a:solidFill>
                  <a:srgbClr val="E7EEF4"/>
                </a:solidFill>
                <a:latin typeface="Calibri"/>
              </a:rPr>
              <a:t>Chiang, W.-L. et al. (2024). Chatbot Arena: An Open Platform for Evaluating LLMs by Human Preference. ICML. arxiv.org/abs/2403.04132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B3822F"/>
                </a:solidFill>
                <a:latin typeface="Calibri"/>
              </a:rPr>
              <a:t>▪  </a:t>
            </a:r>
            <a:r>
              <a:rPr sz="1500">
                <a:solidFill>
                  <a:srgbClr val="E7EEF4"/>
                </a:solidFill>
                <a:latin typeface="Calibri"/>
              </a:rPr>
              <a:t>Zheng, L. et al. (2023). Judging LLM-as-a-Judge with MT-Bench and Chatbot Arena. NeurIPS. arxiv.org/abs/2306.05685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B3822F"/>
                </a:solidFill>
                <a:latin typeface="Calibri"/>
              </a:rPr>
              <a:t>▪  </a:t>
            </a:r>
            <a:r>
              <a:rPr sz="1500">
                <a:solidFill>
                  <a:srgbClr val="E7EEF4"/>
                </a:solidFill>
                <a:latin typeface="Calibri"/>
              </a:rPr>
              <a:t>Kaggle. LMSYS – Chatbot Arena Human Preference Predictions. kaggle.com/competitions/lmsys-chatbot-arena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4846320"/>
            <a:ext cx="1828800" cy="30480"/>
          </a:xfrm>
          <a:prstGeom prst="rect">
            <a:avLst/>
          </a:prstGeom>
          <a:solidFill>
            <a:srgbClr val="B38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601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Gracias — preguntas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008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46617F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Exploratorio de Datos — Chatbot Arena</dc:title>
  <dc:subject>Proyecto 2 — Ciencia de Datos, Grupo 5</dc:subject>
  <dc:creator>Javier López, Pedro Ávila, Brandon Rivera</dc:creator>
  <cp:keywords/>
  <dc:description/>
  <cp:lastModifiedBy>Javier López</cp:lastModifiedBy>
  <cp:revision>1</cp:revision>
  <dcterms:created xsi:type="dcterms:W3CDTF">2026-09-13T09:00:00Z</dcterms:created>
  <dcterms:modified xsi:type="dcterms:W3CDTF">2026-09-13T09:00:00Z</dcterms:modified>
  <cp:category/>
</cp:coreProperties>
</file>